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2801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D9E75"/>
                </a:solidFill>
              </a:rPr>
              <a:t>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TAHFIDZ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F3D0"/>
                </a:solidFill>
              </a:rPr>
              <a:t>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FAE5"/>
                </a:solidFill>
              </a:rPr>
              <a:t>Gestion intelligente
d'école de mémorisation du Coran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71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Présentation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2024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Application web multi-tenant
pour écoles de tahfidz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9260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✓  4 profils : Admin · Enseignant · Élève · 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015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✓  Suivi complet de la mémorisation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877056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✓  Présences · Évaluations · Statistiques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352544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✓  Trilingue : Français · English · العربية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2803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✓  Certifications personnalisées par niveau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943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Next.js 15  ·  Prisma  ·  PostgreSQL  · 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Problème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</a:rPr>
              <a:t>😓  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✗  Suivi manuel sur papier ou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✗  Aucune visibilité pour les parents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✗  Pas de traçabilité des absences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✗  Gestion des évaluations fastidieuse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✗  Perte de données et de continuité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✗  Communication difficile école ↔ famille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486400" cy="5120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9E75"/>
                </a:solidFill>
              </a:rPr>
              <a:t>✅  La solution TAHFIDZ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Tableau de bord numérique temps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Espace parent avec suivi de l'enfant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Pointage digital des présences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118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Évaluations notées avec décision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Historique complet et exportable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Annonces &amp; notifications intégrées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 Profils Utilisateurs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8229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🛡️  Administrateur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Gestion complète de l'école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Accès à toutes les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Paramètres &amp; personnalisation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Statistiques globales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Gestion des utilisateurs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2743200" cy="82296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280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👨‍🏫  Enseignant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Gestion de ses groupes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Pointage des présences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Évaluation des élèves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9319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Suivi de mémorisation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Annonces aux élèves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274320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🎓  Élève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Tableau de bord personnel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Suivi de sa progression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Badges &amp; étoiles gagnés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319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Historique des présences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Certifications imprimables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1188720"/>
            <a:ext cx="2743200" cy="822960"/>
          </a:xfrm>
          <a:prstGeom prst="rect">
            <a:avLst/>
          </a:prstGeom>
          <a:solidFill>
            <a:srgbClr val="0E7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280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👨‍👩‍👦  Parent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1488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Suivi de l'enfant en temps réel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743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Notification des absences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Consultation des évaluations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9319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Liaison avec l'école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5262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Plusieurs enfants liés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🛡️  Espace Administrateur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FAE5"/>
                </a:solidFill>
              </a:rPr>
              <a:t>Pilotage complet de l'école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1615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52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📊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002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KPIs en temps réel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Élèves actifs &amp; taux présence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Annonces récentes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Actions rapides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21615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252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👨‍🎓 Élèves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6002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Liste filtrée &amp; paginée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Profil détaillé par élève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Activation/désactivation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Export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1615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252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👨‍🏫 Enseignants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002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Annuaire complet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Groupes assignés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Nb d'évaluations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Profil détaillé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4300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21615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1252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👨‍👩‍👦 Parents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16002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Gestion des comptes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Liens parent-enfant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Historique des liens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6791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904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📅 Présences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Vue par groupe &amp; période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Export Excel/CSV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Filtre jour/semaine/mois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79476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86791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3904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📈 Statistiques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Graphiques recharts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Top élèves &amp; sourates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Taux d'approbation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Occupation groupes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6791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904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🏅 Certificats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Templates par niveau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Couleurs personnalisables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Aperçu temps réel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Impression PDF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794760"/>
            <a:ext cx="27432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3867912"/>
            <a:ext cx="54864" cy="2368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3904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📢 Annonces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Général · Urgent · Événement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Épinglage d'annonces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475569"/>
                </a:solidFill>
              </a:rPr>
              <a:t>• Ciblage par rôle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📖  Suivi de Mémorisation du Coran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Cycle de progression d'une sourate 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01168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🔵 En cours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9144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🟣 Prêt à réciter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645920"/>
            <a:ext cx="201168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🟠 En attente
enseignant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645920"/>
            <a:ext cx="201168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🟡 En révision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645920"/>
            <a:ext cx="2011680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645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🟢 Mémorisé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Ce que le système enregistre 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5577840" cy="1417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</a:rPr>
              <a:t>Sourates mémorisées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4903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Chaque sourate du Coran (114 au total) est suivie individuellement avec son statut.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291840"/>
            <a:ext cx="5577840" cy="1417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</a:rPr>
              <a:t>Versets &amp;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4903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Début et fin de verset, historique de chaque changement de statut.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5577840" cy="1417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9377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</a:rPr>
              <a:t>Étoiles &amp; badges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03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Système de récompense : étoiles cumulées, badges débloqués automatiquement.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46320"/>
            <a:ext cx="5577840" cy="1417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377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</a:rPr>
              <a:t>Statistiques agrégées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303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Top 10 sourates, top élèves, taux global de mémorisation par école.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⚙️  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09728" cy="11887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9E75"/>
                </a:solidFill>
              </a:rPr>
              <a:t>🌐 Frontend (Next.js 15 App Router)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Server Components pour le rendu  ·  Client Components pour l'interactivité  ·  Tailwind CSS + dark mode  ·  Recharts pour les graphiques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109728" cy="11887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34AB7"/>
                </a:solidFill>
              </a:rPr>
              <a:t>🔗 API Layer (Route Handlers)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34 routes API REST sécurisées  ·  Auth via NextAuth v5 + Prisma Adapter  ·  Middleware de rôle (ADMIN / TEACHER / PARENT / STUDENT)  ·  Validation Zod sur les inputs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10972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🗄️  Base de données (PostgreSQL + Prisma)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26 modèles Prisma (School, User, Group, Surah…)  ·  Multi-tenant : chaque requête filtrée par schoolId  ·  Relations cascadées et indexées  ·  Migrations versionnées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303520"/>
            <a:ext cx="109728" cy="1188720"/>
          </a:xfrm>
          <a:prstGeom prst="rect">
            <a:avLst/>
          </a:prstGeom>
          <a:solidFill>
            <a:srgbClr val="0E7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7ACB"/>
                </a:solidFill>
              </a:rPr>
              <a:t>☁️  Infra &amp;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Supabase (PostgreSQL hébergé)  ·  Resend pour les emails  ·  BullMQ + Redis pour les tâches async  ·  Upload logo via API + stockage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🛠️  Stack Technologique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Next.js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Framework React full-stack,
App Router, Server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651760" cy="4114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Typage strict sur tout
le codebase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517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Prisma 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Schéma déclaratif,
migrations, multi-tenant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1887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188720"/>
            <a:ext cx="2651760" cy="411480"/>
          </a:xfrm>
          <a:prstGeom prst="rect">
            <a:avLst/>
          </a:prstGeom>
          <a:solidFill>
            <a:srgbClr val="33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Base relationnelle robuste,
hébergée sur Supabase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17520"/>
            <a:ext cx="26517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632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NextAuth 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2043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Authentification JWT,
adapter Prisma, sessions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0175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017520"/>
            <a:ext cx="26517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0632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52043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Utility-first CSS,
dark mode, RTL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0175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017520"/>
            <a:ext cx="2651760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0632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52043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Graphiques interactifs,
Pie · Line · Bar charts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0175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017520"/>
            <a:ext cx="2651760" cy="4114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0632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52043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Validation des schémas
côté serveur et client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846320"/>
            <a:ext cx="26517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Resend / BullMQ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349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Emails transactionnels
et tâches asynchrones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8463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4846320"/>
            <a:ext cx="2651760" cy="41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react-hook-form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349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Formulaires performants,
validation intégrée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8463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846320"/>
            <a:ext cx="265176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python-pptx/reportlab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349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Génération de documents
PDF et PPTX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4846320"/>
            <a:ext cx="265176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4846320"/>
            <a:ext cx="2651760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892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i18n maison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349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Contexte React trilingue
FR · EN · AR (RTL)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🌍  Internationalisation FR · EN · 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🇫🇷  Français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Langue par défaut
Interface complète
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🇬🇧 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Full UI translation
All pages covered
Date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47472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🇸🇦  العربية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واجهة كاملة
اتجاه RTL تلقائي
تنسيق التواريخ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Implémentation technique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557784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25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LanguageContext (React Context)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634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Fournit locale et setLocale à toute l'app — persisté dans localStorage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51960"/>
            <a:ext cx="557784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25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TopBar Switcher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Boutons 🇫🇷 🇬🇧 🇸🇦 + toggle dark mode présents sur toutes les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7784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5138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*Client.tsx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Chaque page est un composant client qui lit useLanguage() pour traduire son contenu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440680"/>
            <a:ext cx="557784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5138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dir='rtl'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8521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Documentelement.dir basculé automatiquement quand locale === 'ar'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📊  Chiffres Clés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291840" cy="2194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29184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D9E75"/>
                </a:solidFill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Pages / 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280160"/>
            <a:ext cx="3291840" cy="2194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280160"/>
            <a:ext cx="3291840" cy="7315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508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534AB7"/>
                </a:solidFill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APIs 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280160"/>
            <a:ext cx="3291840" cy="2194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28016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508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D97706"/>
                </a:solidFill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Modèles Prisma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79"/>
            <a:ext cx="3291840" cy="2194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79"/>
            <a:ext cx="3291840" cy="73152"/>
          </a:xfrm>
          <a:prstGeom prst="rect">
            <a:avLst/>
          </a:prstGeom>
          <a:solidFill>
            <a:srgbClr val="0E7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7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E7ACB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Profils utilisateurs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840479"/>
            <a:ext cx="3291840" cy="2194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3840479"/>
            <a:ext cx="329184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406907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D9E75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Langues (FR/EN/AR)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840479"/>
            <a:ext cx="3291840" cy="2194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840479"/>
            <a:ext cx="3291840" cy="7315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406907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534AB7"/>
                </a:solidFill>
              </a:rPr>
              <a:t>114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51206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Sourates du Coran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🗄️  Modèle de Données (26 modèles)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Multi-Tenant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School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82880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963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46888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4963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SchoolRequest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34440"/>
            <a:ext cx="3657600" cy="4572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Profils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82880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82880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Teacher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46888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4963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Parent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46888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4963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Student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1089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1363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ParentStudentLink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23444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298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Pédagogie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182880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182880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185623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Surah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246888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4963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MemorizationProgress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246888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24963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StatusHistory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31089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31363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MemorizedSurah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88620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3886200"/>
            <a:ext cx="36576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950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Évaluation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805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507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Evaluation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44805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4507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Attendance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12064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148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Exam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80" y="512064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0" y="5148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StudentStats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388620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3886200"/>
            <a:ext cx="3657600" cy="457200"/>
          </a:xfrm>
          <a:prstGeom prst="rect">
            <a:avLst/>
          </a:prstGeom>
          <a:solidFill>
            <a:srgbClr val="0E7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950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Gamification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34840" y="44805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4507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Badge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44805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4507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StudentBadge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40" y="512064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5148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StarsLog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3886200"/>
            <a:ext cx="365760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3886200"/>
            <a:ext cx="3657600" cy="4572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3950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66760" y="44805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4507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Announcement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04120" y="448056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49840" y="450799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GroupAnnouncement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60" y="512064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5148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Notification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04120" y="512064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9840" y="51480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DirectMessage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66760" y="5760720"/>
            <a:ext cx="1600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57881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AuditLog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👨‍🏫  Enseignant  &amp;  🎓  Élève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577840" cy="53949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577840" cy="50292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👨‍🏫  Espace Enseignant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5564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4AB7"/>
                </a:solidFill>
              </a:rPr>
              <a:t>📋 Mes groupes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Vue de tous ses groupes avec nb d'élèves, niveau et étoiles.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2432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4AB7"/>
                </a:solidFill>
              </a:rPr>
              <a:t>✅ Présences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Pointage rapide par session avec statuts Présent/Absent/Retard/Excusé.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9300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38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4AB7"/>
                </a:solidFill>
              </a:rPr>
              <a:t>📝 Évaluations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13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Notation des élèves avec score, qualité et décision d'approbation.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6168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4AB7"/>
                </a:solidFill>
              </a:rPr>
              <a:t>📈 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Suivi sourate par sourate — changer le statut de mémorisation.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3036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34AB7"/>
                </a:solidFill>
              </a:rPr>
              <a:t>👤 Profil élève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50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Vue détaillée : mémorisations, badges, présences, évaluations.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143000"/>
            <a:ext cx="5577840" cy="53949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143000"/>
            <a:ext cx="5577840" cy="5029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🎓  Espace Élève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01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🏠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Résumé : étoiles totales, sourates mémorisées, statut actuel.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62432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📖 Ma progression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44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Liste des sourates en cours avec statut coloré et actions.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49300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538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🏅 Mes badges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813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Collection de badges gagnés avec date d'obtention.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36168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4074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📅 Mes présences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6817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Historique des sessions avec statuts codés couleur.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230368"/>
            <a:ext cx="53035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</a:rPr>
              <a:t>📜 Mon certificat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550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Certificat PDF personnalisé selon son niveau de mémorisation.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🏅  Certificats &amp; Gamification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📜  Certificats personnalisables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3 niveaux : Débutant 🌱 · Intermédiaire ⭐ · Avancé 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Couleurs, titres et textes éditables par l'admin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977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Aperçu temps réel dans l'éditeur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670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Impression PDF haute qualité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Titre français + titre arabe sur le même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✓  Verset coranique personnalisable par niveau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⭐  Système de gamification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⭐ Étoiles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Gagnées à chaque évaluation réussie — cumulées sur le profil.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88036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🏅 Badges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918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Déblocage automatique selon seuils : 5 sourates, 50 étoiles…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06908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🏆 Classement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Top 5 élèves par étoiles affiché dans les statistiques admin.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257800"/>
            <a:ext cx="539496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📊 Progression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Jauge visuelle par sourate : EN_COURS → MÉMORISÉ.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🗺️  Roadmap &amp; Évolutions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3035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 Phase 1 — Socle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✓  Auth multi-rôles complète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✓  Gestion élèves / enseignants / parents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826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✓  Présences &amp; évaluations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8678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✓  Suivi de mémorisation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✓  Certificats personnalisables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✓  i18n FR / EN / 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566160" cy="53035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566160" cy="54864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🔄  Phase 2 — En 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7451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 Messagerie directe (DirectMessage)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786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 Module examens (Exam 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826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 TV Display (tableau d'affichage)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8678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 Export PDF avancé des présences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908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→  Mode hors-ligne (PWA)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53035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88720"/>
            <a:ext cx="356616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🔮  Phase 3 —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87451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○  Application mobile native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786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○  IA pour recommandations de révision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826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○  API publique pour intégrations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86783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○  Marketplace de plugins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9087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○  Tableau de bord SuperAdmin avancé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TAHFIDZ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1FAE5"/>
                </a:solidFill>
              </a:rPr>
              <a:t>L'école de mémorisation
numérique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280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Un projet complet.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Une vraie solution SaaS multi-tenant prête à déployer
pour toute école de mémorisation du Saint Coran.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1089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Gestion complète des élèves, enseignants et parents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593591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Suivi de mémorisation sourate par sourate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07822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Présences, évaluations, statistiques visuelles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56285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Trilingue (FR / EN / AR) avec support RTL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0474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Certifications imprimables par niveau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532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Architecture moderne, extensible et sécurisée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217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Next.js 15  ·  Prisma  ·  PostgreSQL  ·  NextAuth  ·  Tailwind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